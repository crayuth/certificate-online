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47"/>
      <p:bold r:id="rId48"/>
      <p:italic r:id="rId49"/>
      <p:boldItalic r:id="rId50"/>
    </p:embeddedFont>
    <p:embeddedFont>
      <p:font typeface="Inter" panose="020B0604020202020204" charset="0"/>
      <p:regular r:id="rId51"/>
      <p:bold r:id="rId52"/>
      <p:italic r:id="rId53"/>
      <p:boldItalic r:id="rId54"/>
    </p:embeddedFont>
    <p:embeddedFont>
      <p:font typeface="Montserrat" panose="00000500000000000000" pitchFamily="2" charset="0"/>
      <p:regular r:id="rId55"/>
      <p:bold r:id="rId56"/>
      <p:italic r:id="rId57"/>
      <p:boldItalic r:id="rId58"/>
    </p:embeddedFont>
    <p:embeddedFont>
      <p:font typeface="Montserrat SemiBold" panose="00000700000000000000" pitchFamily="2" charset="0"/>
      <p:regular r:id="rId59"/>
      <p:bold r:id="rId60"/>
      <p:italic r:id="rId61"/>
      <p:boldItalic r:id="rId62"/>
    </p:embeddedFont>
    <p:embeddedFont>
      <p:font typeface="Roboto Mono" panose="00000009000000000000" pitchFamily="49" charset="0"/>
      <p:regular r:id="rId63"/>
      <p:bold r:id="rId64"/>
      <p:italic r:id="rId65"/>
      <p:boldItalic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63" Type="http://schemas.openxmlformats.org/officeDocument/2006/relationships/font" Target="fonts/font17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font" Target="fonts/font20.fntdata"/><Relationship Id="rId5" Type="http://schemas.openxmlformats.org/officeDocument/2006/relationships/slide" Target="slides/slide4.xml"/><Relationship Id="rId61" Type="http://schemas.openxmlformats.org/officeDocument/2006/relationships/font" Target="fonts/font1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4.fntdata"/><Relationship Id="rId5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a9fa940987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a9fa940987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a9fa940987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a9fa940987_2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212c6dc11_3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212c6dc11_3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Solution is the network -&gt; startup -&gt; botnet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Solution is the USB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a9469d1f4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a9469d1f4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a9fa940987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a9fa940987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a9fa940987_3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a9fa940987_3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a9469d1f4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a9469d1f4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212c6dc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212c6dc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212c6dc11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212c6dc11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1591a88e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71591a88e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1591a88e9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1591a88e9_2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a9fa940987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a9fa940987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1591a88e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71591a88e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1591a88e9_2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71591a88e9_2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1591a88e9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1591a88e9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a9fa940987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a9fa940987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71591a88e9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71591a88e9_2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f9347eebf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f9347eebf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f9347eebf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6f9347eebf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71813e249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71813e249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71813e249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71813e249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71813e249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71813e249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71813e249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71813e249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718ec9ce5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718ec9ce5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6989b60b2da49bf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6989b60b2da49bf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6989b60b2da49bf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6989b60b2da49bf4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19c04b9c3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719c04b9c3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719c04b9c3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719c04b9c3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71f092971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71f092971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637cd2b42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637cd2b424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73d92562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73d92562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73d925627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73d925627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73d925627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73d925627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73d925627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73d925627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73d9256271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73d9256271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73d9256271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73d9256271_4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3d9256271_4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73d9256271_4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73d925627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73d925627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73d9256271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73d9256271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73d9256271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73d9256271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a9fa940987_3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a9fa940987_3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212c6dc11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7212c6dc11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7212c6dc11_3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7212c6dc11_3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713225" y="2371675"/>
            <a:ext cx="2987100" cy="12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3962400" y="2371675"/>
            <a:ext cx="2987100" cy="12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"/>
              <a:defRPr sz="1400"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●"/>
              <a:defRPr sz="1200"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43"/>
              </a:buClr>
              <a:buSzPts val="1400"/>
              <a:buFont typeface="Quicksand Medium"/>
              <a:buChar char="○"/>
              <a:defRPr sz="1200"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43"/>
              </a:buClr>
              <a:buSzPts val="1400"/>
              <a:buFont typeface="Quicksand Medium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713225" y="1925800"/>
            <a:ext cx="2987100" cy="4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3962400" y="1925800"/>
            <a:ext cx="2987100" cy="4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7520700" y="20511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6304500" y="0"/>
            <a:ext cx="1216200" cy="205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713225" y="1170000"/>
            <a:ext cx="5533200" cy="28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7951325" y="2571750"/>
            <a:ext cx="1216200" cy="134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71337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71322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2" hasCustomPrompt="1"/>
          </p:nvPr>
        </p:nvSpPr>
        <p:spPr>
          <a:xfrm>
            <a:off x="71330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53" name="Google Shape;53;p9"/>
          <p:cNvSpPr/>
          <p:nvPr/>
        </p:nvSpPr>
        <p:spPr>
          <a:xfrm>
            <a:off x="5270400" y="9795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6486600" y="257190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713225" y="544075"/>
            <a:ext cx="4264800" cy="15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12150"/>
            <a:ext cx="7717500" cy="165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713400" y="3069625"/>
            <a:ext cx="7717500" cy="6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1"/>
          <p:cNvSpPr/>
          <p:nvPr/>
        </p:nvSpPr>
        <p:spPr>
          <a:xfrm rot="10800000" flipH="1"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2683950" y="3273525"/>
            <a:ext cx="5757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 flipH="1">
            <a:off x="2684000" y="1247225"/>
            <a:ext cx="5757300" cy="185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idact Gothic"/>
              <a:buNone/>
              <a:defRPr sz="28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/>
          <p:nvPr/>
        </p:nvSpPr>
        <p:spPr>
          <a:xfrm rot="10800000" flipH="1">
            <a:off x="1216200" y="2571750"/>
            <a:ext cx="1216200" cy="257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/>
          <p:nvPr/>
        </p:nvSpPr>
        <p:spPr>
          <a:xfrm rot="10800000" flipH="1">
            <a:off x="0" y="1061825"/>
            <a:ext cx="1216200" cy="1509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ctrTitle" idx="2"/>
          </p:nvPr>
        </p:nvSpPr>
        <p:spPr>
          <a:xfrm>
            <a:off x="23103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3" hasCustomPrompt="1"/>
          </p:nvPr>
        </p:nvSpPr>
        <p:spPr>
          <a:xfrm>
            <a:off x="7178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2310350" y="185887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ctrTitle" idx="4"/>
          </p:nvPr>
        </p:nvSpPr>
        <p:spPr>
          <a:xfrm>
            <a:off x="6233050" y="1446813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5" hasCustomPrompt="1"/>
          </p:nvPr>
        </p:nvSpPr>
        <p:spPr>
          <a:xfrm>
            <a:off x="4686400" y="1521025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subTitle" idx="6"/>
          </p:nvPr>
        </p:nvSpPr>
        <p:spPr>
          <a:xfrm>
            <a:off x="6275800" y="1858878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 idx="7"/>
          </p:nvPr>
        </p:nvSpPr>
        <p:spPr>
          <a:xfrm>
            <a:off x="2310350" y="2868777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8" hasCustomPrompt="1"/>
          </p:nvPr>
        </p:nvSpPr>
        <p:spPr>
          <a:xfrm>
            <a:off x="7178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9"/>
          </p:nvPr>
        </p:nvSpPr>
        <p:spPr>
          <a:xfrm>
            <a:off x="231035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ctrTitle" idx="13"/>
          </p:nvPr>
        </p:nvSpPr>
        <p:spPr>
          <a:xfrm>
            <a:off x="6275650" y="2868775"/>
            <a:ext cx="21504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14" hasCustomPrompt="1"/>
          </p:nvPr>
        </p:nvSpPr>
        <p:spPr>
          <a:xfrm>
            <a:off x="4686400" y="2960450"/>
            <a:ext cx="1493400" cy="94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None/>
              <a:defRPr sz="7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Extra Condensed Medium"/>
              <a:buNone/>
              <a:defRPr sz="8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subTitle" idx="15"/>
          </p:nvPr>
        </p:nvSpPr>
        <p:spPr>
          <a:xfrm>
            <a:off x="6275800" y="3298325"/>
            <a:ext cx="2150400" cy="76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 sz="14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3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454225" y="33913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ubTitle" idx="2"/>
          </p:nvPr>
        </p:nvSpPr>
        <p:spPr>
          <a:xfrm>
            <a:off x="1454225" y="37667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3"/>
          </p:nvPr>
        </p:nvSpPr>
        <p:spPr>
          <a:xfrm>
            <a:off x="5427875" y="33913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ubTitle" idx="4"/>
          </p:nvPr>
        </p:nvSpPr>
        <p:spPr>
          <a:xfrm>
            <a:off x="5427875" y="37667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/>
          <p:nvPr/>
        </p:nvSpPr>
        <p:spPr>
          <a:xfrm rot="5400000">
            <a:off x="-2131350" y="2050000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7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">
  <p:cSld name="CUSTOM_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1878275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subTitle" idx="2"/>
          </p:nvPr>
        </p:nvSpPr>
        <p:spPr>
          <a:xfrm>
            <a:off x="1878275" y="1744345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subTitle" idx="3"/>
          </p:nvPr>
        </p:nvSpPr>
        <p:spPr>
          <a:xfrm>
            <a:off x="5351497" y="1251675"/>
            <a:ext cx="27876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4"/>
          </p:nvPr>
        </p:nvSpPr>
        <p:spPr>
          <a:xfrm>
            <a:off x="5351493" y="1744282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ubTitle" idx="5"/>
          </p:nvPr>
        </p:nvSpPr>
        <p:spPr>
          <a:xfrm>
            <a:off x="1878275" y="2898148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6"/>
          </p:nvPr>
        </p:nvSpPr>
        <p:spPr>
          <a:xfrm>
            <a:off x="187827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7"/>
          </p:nvPr>
        </p:nvSpPr>
        <p:spPr>
          <a:xfrm>
            <a:off x="5351425" y="2898156"/>
            <a:ext cx="27876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8"/>
          </p:nvPr>
        </p:nvSpPr>
        <p:spPr>
          <a:xfrm>
            <a:off x="5351425" y="3390754"/>
            <a:ext cx="2787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9"/>
          </p:nvPr>
        </p:nvSpPr>
        <p:spPr>
          <a:xfrm rot="-5400803">
            <a:off x="609009" y="1779468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3"/>
          </p:nvPr>
        </p:nvSpPr>
        <p:spPr>
          <a:xfrm rot="-5400000">
            <a:off x="609075" y="3422400"/>
            <a:ext cx="1284300" cy="4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4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ubTitle" idx="1"/>
          </p:nvPr>
        </p:nvSpPr>
        <p:spPr>
          <a:xfrm>
            <a:off x="5951340" y="1570850"/>
            <a:ext cx="24795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subTitle" idx="2"/>
          </p:nvPr>
        </p:nvSpPr>
        <p:spPr>
          <a:xfrm>
            <a:off x="5951336" y="1941975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3"/>
          </p:nvPr>
        </p:nvSpPr>
        <p:spPr>
          <a:xfrm>
            <a:off x="5951276" y="3064926"/>
            <a:ext cx="24795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subTitle" idx="4"/>
          </p:nvPr>
        </p:nvSpPr>
        <p:spPr>
          <a:xfrm>
            <a:off x="5951276" y="3436049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subTitle" idx="5"/>
          </p:nvPr>
        </p:nvSpPr>
        <p:spPr>
          <a:xfrm>
            <a:off x="3156090" y="1570850"/>
            <a:ext cx="24795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subTitle" idx="6"/>
          </p:nvPr>
        </p:nvSpPr>
        <p:spPr>
          <a:xfrm>
            <a:off x="3156036" y="1941975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subTitle" idx="7"/>
          </p:nvPr>
        </p:nvSpPr>
        <p:spPr>
          <a:xfrm>
            <a:off x="3156026" y="3064926"/>
            <a:ext cx="2479500" cy="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8"/>
          </p:nvPr>
        </p:nvSpPr>
        <p:spPr>
          <a:xfrm>
            <a:off x="3155976" y="3436049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41" name="Google Shape;141;p19"/>
          <p:cNvSpPr/>
          <p:nvPr/>
        </p:nvSpPr>
        <p:spPr>
          <a:xfrm rot="10800000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9"/>
          <p:cNvSpPr/>
          <p:nvPr/>
        </p:nvSpPr>
        <p:spPr>
          <a:xfrm rot="10800000">
            <a:off x="1216200" y="1061825"/>
            <a:ext cx="1216200" cy="150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CUSTOM_10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3730075" y="1631700"/>
            <a:ext cx="4700700" cy="10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subTitle" idx="1"/>
          </p:nvPr>
        </p:nvSpPr>
        <p:spPr>
          <a:xfrm>
            <a:off x="3730075" y="2726700"/>
            <a:ext cx="4700700" cy="8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1"/>
          <p:cNvSpPr/>
          <p:nvPr/>
        </p:nvSpPr>
        <p:spPr>
          <a:xfrm rot="10800000" flipH="1">
            <a:off x="2110925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10800000" flipH="1">
            <a:off x="0" y="257175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1" name="Google Shape;161;p2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subTitle" idx="1"/>
          </p:nvPr>
        </p:nvSpPr>
        <p:spPr>
          <a:xfrm>
            <a:off x="717800" y="1255775"/>
            <a:ext cx="4631700" cy="3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1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 hasCustomPrompt="1"/>
          </p:nvPr>
        </p:nvSpPr>
        <p:spPr>
          <a:xfrm>
            <a:off x="750975" y="28191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1" name="Google Shape;171;p25"/>
          <p:cNvSpPr txBox="1">
            <a:spLocks noGrp="1"/>
          </p:cNvSpPr>
          <p:nvPr>
            <p:ph type="subTitle" idx="1"/>
          </p:nvPr>
        </p:nvSpPr>
        <p:spPr>
          <a:xfrm>
            <a:off x="750975" y="33900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5"/>
          <p:cNvSpPr txBox="1">
            <a:spLocks noGrp="1"/>
          </p:cNvSpPr>
          <p:nvPr>
            <p:ph type="title" idx="2" hasCustomPrompt="1"/>
          </p:nvPr>
        </p:nvSpPr>
        <p:spPr>
          <a:xfrm>
            <a:off x="3508587" y="28191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3" name="Google Shape;173;p25"/>
          <p:cNvSpPr txBox="1">
            <a:spLocks noGrp="1"/>
          </p:cNvSpPr>
          <p:nvPr>
            <p:ph type="subTitle" idx="3"/>
          </p:nvPr>
        </p:nvSpPr>
        <p:spPr>
          <a:xfrm>
            <a:off x="3508587" y="33900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title" idx="4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title" idx="5" hasCustomPrompt="1"/>
          </p:nvPr>
        </p:nvSpPr>
        <p:spPr>
          <a:xfrm>
            <a:off x="6216100" y="28191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000">
                <a:solidFill>
                  <a:schemeClr val="dk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6" name="Google Shape;176;p25"/>
          <p:cNvSpPr txBox="1">
            <a:spLocks noGrp="1"/>
          </p:cNvSpPr>
          <p:nvPr>
            <p:ph type="subTitle" idx="6"/>
          </p:nvPr>
        </p:nvSpPr>
        <p:spPr>
          <a:xfrm>
            <a:off x="6216100" y="3390050"/>
            <a:ext cx="2164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5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5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2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26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26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26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26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26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26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26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6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94" name="Google Shape;194;p26"/>
          <p:cNvSpPr/>
          <p:nvPr/>
        </p:nvSpPr>
        <p:spPr>
          <a:xfrm>
            <a:off x="7927800" y="257160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858900" cy="13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7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713225" y="3485675"/>
            <a:ext cx="39561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100" b="1">
                <a:solidFill>
                  <a:schemeClr val="accent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7"/>
          <p:cNvSpPr/>
          <p:nvPr/>
        </p:nvSpPr>
        <p:spPr>
          <a:xfrm>
            <a:off x="6711600" y="257160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7927800" y="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q3Ck-35GdN1UIg5lLCypURVGco9Wfdes/view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qut-code.github.io/chrome-setu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uE1n8GRdvqCnnF4gqTUNY1MkBNp0KSa-/view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target.com/iotagenda/definition/Internet-of-Things-IoT" TargetMode="External"/><Relationship Id="rId7" Type="http://schemas.openxmlformats.org/officeDocument/2006/relationships/hyperlink" Target="https://www.techtarget.com/searchsecurity/definition/distributed-denial-of-service-attack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www.techtarget.com/searchsecurity/definition/click-fraud-pay-per-click-fraud" TargetMode="External"/><Relationship Id="rId5" Type="http://schemas.openxmlformats.org/officeDocument/2006/relationships/hyperlink" Target="https://www.techtarget.com/searchsecurity/definition/spam" TargetMode="External"/><Relationship Id="rId4" Type="http://schemas.openxmlformats.org/officeDocument/2006/relationships/hyperlink" Target="https://www.techtarget.com/searchsecurity/definition/malware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lwaredllc/byob.gi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cbKCs9AT1Uk0vgZf5MAXdPOAQvHNm1vU/view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No8XeZoU8ogJGDtiOPB18IJSnxncNfl5/view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aFwS_i32W7I_2UYCcKLy7wjJ_W45RQsq/view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1jPHDqC6Ulo9BEbmEusNsABQvdvGgSR1/view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cflBdzXxKu1-0JDjLdhBb_LbG8dWOjue/view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ettercap.org/modules/ethernet/spoofers/dns.spoof/" TargetMode="External"/><Relationship Id="rId13" Type="http://schemas.openxmlformats.org/officeDocument/2006/relationships/hyperlink" Target="https://www.bankinfosecurity.com/fin7-targets-us-enterprises-via-badusb-a-18278" TargetMode="External"/><Relationship Id="rId3" Type="http://schemas.openxmlformats.org/officeDocument/2006/relationships/hyperlink" Target="https://github.com/malwaredllc/byob" TargetMode="External"/><Relationship Id="rId7" Type="http://schemas.openxmlformats.org/officeDocument/2006/relationships/hyperlink" Target="https://www.bettercap.org/modules/ethernet/spoofers/arp.spoof/" TargetMode="External"/><Relationship Id="rId12" Type="http://schemas.openxmlformats.org/officeDocument/2006/relationships/hyperlink" Target="https://www.cpomagazine.com/cyber-security/badusb-a-growing-cybersecurity-threat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www.sciencealert.com/people-will-pick-up-and-use-almost-50-of-random-discarded-usb-drives-study-finds" TargetMode="External"/><Relationship Id="rId11" Type="http://schemas.openxmlformats.org/officeDocument/2006/relationships/hyperlink" Target="https://therecord.media/doj-deletes-china-linked-plugx-malware" TargetMode="External"/><Relationship Id="rId5" Type="http://schemas.openxmlformats.org/officeDocument/2006/relationships/hyperlink" Target="https://www.marketresearchfuture.com/reports/usb-flash-drives-market-38381" TargetMode="External"/><Relationship Id="rId10" Type="http://schemas.openxmlformats.org/officeDocument/2006/relationships/hyperlink" Target="https://witestlab.poly.edu/blog/redirect-traffic-to-a-wrong-or-fake-site-with-dns-spoofing-on-a-lan/" TargetMode="External"/><Relationship Id="rId4" Type="http://schemas.openxmlformats.org/officeDocument/2006/relationships/hyperlink" Target="https://www.mimecast.com/blog/botnet-detection-and-removal/" TargetMode="External"/><Relationship Id="rId9" Type="http://schemas.openxmlformats.org/officeDocument/2006/relationships/hyperlink" Target="https://www.bettercap.org/modules/ethernet/net.probe/" TargetMode="External"/><Relationship Id="rId14" Type="http://schemas.openxmlformats.org/officeDocument/2006/relationships/hyperlink" Target="https://www.techradar.com/pro/the-threats-of-usb-based-attacks-for-critical-infrastructure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>
            <a:spLocks noGrp="1"/>
          </p:cNvSpPr>
          <p:nvPr>
            <p:ph type="title"/>
          </p:nvPr>
        </p:nvSpPr>
        <p:spPr>
          <a:xfrm>
            <a:off x="3198625" y="2562850"/>
            <a:ext cx="5715000" cy="10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Malicious Code &amp; Solution </a:t>
            </a:r>
            <a:r>
              <a:rPr lang="en">
                <a:solidFill>
                  <a:schemeClr val="dk2"/>
                </a:solidFill>
              </a:rPr>
              <a:t>Implementation</a:t>
            </a:r>
            <a:endParaRPr>
              <a:solidFill>
                <a:schemeClr val="dk2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3552300" y="575850"/>
            <a:ext cx="5515500" cy="15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 b="1">
                <a:solidFill>
                  <a:schemeClr val="accent1"/>
                </a:solidFill>
              </a:rPr>
              <a:t>INSTITUTE OF TECHNOLOGY OF CAMBODIA</a:t>
            </a:r>
            <a:endParaRPr sz="30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/>
          </a:p>
        </p:txBody>
      </p:sp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5600" y="400250"/>
            <a:ext cx="1448037" cy="10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3814500" y="3653050"/>
            <a:ext cx="4991100" cy="639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7357500" y="3716950"/>
            <a:ext cx="1448100" cy="4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Team2</a:t>
            </a:r>
            <a:endParaRPr b="1"/>
          </a:p>
        </p:txBody>
      </p:sp>
      <p:pic>
        <p:nvPicPr>
          <p:cNvPr id="212" name="Google Shape;21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025" y="1509700"/>
            <a:ext cx="2152650" cy="212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subTitle" idx="1"/>
          </p:nvPr>
        </p:nvSpPr>
        <p:spPr>
          <a:xfrm>
            <a:off x="71190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Dy Daly</a:t>
            </a:r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2"/>
          </p:nvPr>
        </p:nvSpPr>
        <p:spPr>
          <a:xfrm>
            <a:off x="7119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Delivery technique via Bettercap</a:t>
            </a:r>
            <a:endParaRPr/>
          </a:p>
        </p:txBody>
      </p:sp>
      <p:sp>
        <p:nvSpPr>
          <p:cNvPr id="220" name="Google Shape;220;p29"/>
          <p:cNvSpPr txBox="1">
            <a:spLocks noGrp="1"/>
          </p:cNvSpPr>
          <p:nvPr>
            <p:ph type="subTitle" idx="3"/>
          </p:nvPr>
        </p:nvSpPr>
        <p:spPr>
          <a:xfrm>
            <a:off x="2983950" y="14760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Pok Tepoutene</a:t>
            </a: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4"/>
          </p:nvPr>
        </p:nvSpPr>
        <p:spPr>
          <a:xfrm>
            <a:off x="298395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and execution via BadUSB</a:t>
            </a:r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subTitle" idx="5"/>
          </p:nvPr>
        </p:nvSpPr>
        <p:spPr>
          <a:xfrm>
            <a:off x="5256000" y="1476000"/>
            <a:ext cx="30108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Thuon Mean Veasna</a:t>
            </a:r>
            <a:endParaRPr/>
          </a:p>
        </p:txBody>
      </p:sp>
      <p:sp>
        <p:nvSpPr>
          <p:cNvPr id="223" name="Google Shape;223;p29"/>
          <p:cNvSpPr txBox="1">
            <a:spLocks noGrp="1"/>
          </p:cNvSpPr>
          <p:nvPr>
            <p:ph type="subTitle" idx="6"/>
          </p:nvPr>
        </p:nvSpPr>
        <p:spPr>
          <a:xfrm>
            <a:off x="5256000" y="18514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Spreading technique Botnet</a:t>
            </a:r>
            <a:endParaRPr/>
          </a:p>
        </p:txBody>
      </p:sp>
      <p:sp>
        <p:nvSpPr>
          <p:cNvPr id="224" name="Google Shape;224;p29"/>
          <p:cNvSpPr txBox="1">
            <a:spLocks noGrp="1"/>
          </p:cNvSpPr>
          <p:nvPr>
            <p:ph type="subTitle" idx="7"/>
          </p:nvPr>
        </p:nvSpPr>
        <p:spPr>
          <a:xfrm>
            <a:off x="7119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Chheng Rayuth</a:t>
            </a:r>
            <a:endParaRPr/>
          </a:p>
        </p:txBody>
      </p:sp>
      <p:sp>
        <p:nvSpPr>
          <p:cNvPr id="225" name="Google Shape;225;p29"/>
          <p:cNvSpPr txBox="1">
            <a:spLocks noGrp="1"/>
          </p:cNvSpPr>
          <p:nvPr>
            <p:ph type="subTitle" idx="8"/>
          </p:nvPr>
        </p:nvSpPr>
        <p:spPr>
          <a:xfrm>
            <a:off x="7119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Handler and Executing on startup</a:t>
            </a:r>
            <a:endParaRPr/>
          </a:p>
        </p:txBody>
      </p:sp>
      <p:sp>
        <p:nvSpPr>
          <p:cNvPr id="226" name="Google Shape;226;p29"/>
          <p:cNvSpPr txBox="1">
            <a:spLocks noGrp="1"/>
          </p:cNvSpPr>
          <p:nvPr>
            <p:ph type="subTitle" idx="9"/>
          </p:nvPr>
        </p:nvSpPr>
        <p:spPr>
          <a:xfrm>
            <a:off x="298395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Van Sotheany</a:t>
            </a:r>
            <a:endParaRPr/>
          </a:p>
        </p:txBody>
      </p:sp>
      <p:sp>
        <p:nvSpPr>
          <p:cNvPr id="227" name="Google Shape;227;p29"/>
          <p:cNvSpPr txBox="1">
            <a:spLocks noGrp="1"/>
          </p:cNvSpPr>
          <p:nvPr>
            <p:ph type="subTitle" idx="13"/>
          </p:nvPr>
        </p:nvSpPr>
        <p:spPr>
          <a:xfrm>
            <a:off x="298395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Malicious code and anti-malicious code</a:t>
            </a:r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subTitle" idx="14"/>
          </p:nvPr>
        </p:nvSpPr>
        <p:spPr>
          <a:xfrm>
            <a:off x="5256000" y="29522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Sokha Ordom</a:t>
            </a:r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15"/>
          </p:nvPr>
        </p:nvSpPr>
        <p:spPr>
          <a:xfrm>
            <a:off x="5256000" y="33276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Spreading technique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USB propagation 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Member</a:t>
            </a:r>
            <a:endParaRPr/>
          </a:p>
        </p:txBody>
      </p:sp>
      <p:sp>
        <p:nvSpPr>
          <p:cNvPr id="231" name="Google Shape;231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 idx="3"/>
          </p:nvPr>
        </p:nvSpPr>
        <p:spPr>
          <a:xfrm>
            <a:off x="717800" y="1059425"/>
            <a:ext cx="8192100" cy="351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Introduction</a:t>
            </a:r>
            <a:endParaRPr sz="1800">
              <a:solidFill>
                <a:schemeClr val="accen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Malicious code and Anti implementation</a:t>
            </a:r>
            <a:endParaRPr sz="1800">
              <a:solidFill>
                <a:schemeClr val="accen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Chrome setup</a:t>
            </a:r>
            <a:endParaRPr sz="180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First Solution Techniques and Anti-Techniques</a:t>
            </a:r>
            <a:endParaRPr sz="1800">
              <a:solidFill>
                <a:schemeClr val="accent1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Second Solution Techniques and Anti-Techniques</a:t>
            </a:r>
            <a:endParaRPr sz="1800">
              <a:solidFill>
                <a:schemeClr val="accen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Conclusion</a:t>
            </a:r>
            <a:endParaRPr sz="1800">
              <a:solidFill>
                <a:schemeClr val="accent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AutoNum type="arabicPeriod"/>
            </a:pPr>
            <a:r>
              <a:rPr lang="en" sz="1800">
                <a:solidFill>
                  <a:schemeClr val="accent1"/>
                </a:solidFill>
              </a:rPr>
              <a:t>References</a:t>
            </a:r>
            <a:endParaRPr sz="1800"/>
          </a:p>
        </p:txBody>
      </p:sp>
      <p:sp>
        <p:nvSpPr>
          <p:cNvPr id="238" name="Google Shape;238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Malicious Code</a:t>
            </a:r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5129700" cy="20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/>
              <a:t>Malicious code</a:t>
            </a:r>
            <a:r>
              <a:rPr lang="en"/>
              <a:t> refers to script that intentionally design to exploit system causing bad behavior and gaining benefits from victim.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script exist in form of tool and code that using malicious commands.</a:t>
            </a: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>
            <a:spLocks noGrp="1"/>
          </p:cNvSpPr>
          <p:nvPr>
            <p:ph type="title"/>
          </p:nvPr>
        </p:nvSpPr>
        <p:spPr>
          <a:xfrm>
            <a:off x="3003850" y="2649925"/>
            <a:ext cx="6187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Malicious Code &amp; Anti Implementation</a:t>
            </a:r>
            <a:endParaRPr sz="3700"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1"/>
          </p:nvPr>
        </p:nvSpPr>
        <p:spPr>
          <a:xfrm>
            <a:off x="3046900" y="3728775"/>
            <a:ext cx="5935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</a:rPr>
              <a:t>Delete telegram folder, Get wifi password and Occupy CPU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54" name="Google Shape;254;p32"/>
          <p:cNvSpPr txBox="1">
            <a:spLocks noGrp="1"/>
          </p:cNvSpPr>
          <p:nvPr>
            <p:ph type="title" idx="2"/>
          </p:nvPr>
        </p:nvSpPr>
        <p:spPr>
          <a:xfrm>
            <a:off x="3776425" y="147815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Malicious Code</a:t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161150" y="2816915"/>
            <a:ext cx="1478400" cy="6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1639682" y="2618261"/>
            <a:ext cx="1478400" cy="6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3118215" y="2425012"/>
            <a:ext cx="1478400" cy="6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3"/>
          <p:cNvSpPr/>
          <p:nvPr/>
        </p:nvSpPr>
        <p:spPr>
          <a:xfrm rot="5400000">
            <a:off x="1481164" y="2720877"/>
            <a:ext cx="264600" cy="5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3"/>
          <p:cNvSpPr/>
          <p:nvPr/>
        </p:nvSpPr>
        <p:spPr>
          <a:xfrm rot="5400000">
            <a:off x="2960953" y="2524312"/>
            <a:ext cx="258000" cy="5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4294967295"/>
          </p:nvPr>
        </p:nvSpPr>
        <p:spPr>
          <a:xfrm>
            <a:off x="457040" y="2490837"/>
            <a:ext cx="886800" cy="2607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21"/>
              </a:spcAft>
              <a:buNone/>
            </a:pPr>
            <a:r>
              <a:rPr lang="en" sz="1348" b="1">
                <a:solidFill>
                  <a:schemeClr val="accent1"/>
                </a:solidFill>
              </a:rPr>
              <a:t>Phase 1</a:t>
            </a:r>
            <a:endParaRPr sz="1348" b="1">
              <a:solidFill>
                <a:schemeClr val="accent1"/>
              </a:solidFill>
            </a:endParaRPr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4294967295"/>
          </p:nvPr>
        </p:nvSpPr>
        <p:spPr>
          <a:xfrm>
            <a:off x="1935573" y="2289568"/>
            <a:ext cx="886800" cy="2607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21"/>
              </a:spcAft>
              <a:buNone/>
            </a:pPr>
            <a:r>
              <a:rPr lang="en" sz="1348" b="1">
                <a:solidFill>
                  <a:schemeClr val="accent1"/>
                </a:solidFill>
              </a:rPr>
              <a:t>Phase 2</a:t>
            </a:r>
            <a:endParaRPr sz="1348" b="1">
              <a:solidFill>
                <a:schemeClr val="accent1"/>
              </a:solidFill>
            </a:endParaRPr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4294967295"/>
          </p:nvPr>
        </p:nvSpPr>
        <p:spPr>
          <a:xfrm>
            <a:off x="3414105" y="2103176"/>
            <a:ext cx="886800" cy="2607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21"/>
              </a:spcAft>
              <a:buNone/>
            </a:pPr>
            <a:r>
              <a:rPr lang="en" sz="1348" b="1">
                <a:solidFill>
                  <a:schemeClr val="accent1"/>
                </a:solidFill>
              </a:rPr>
              <a:t>Phase 3</a:t>
            </a:r>
            <a:endParaRPr sz="1348" b="1">
              <a:solidFill>
                <a:schemeClr val="accent1"/>
              </a:solidFill>
            </a:endParaRPr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4294967295"/>
          </p:nvPr>
        </p:nvSpPr>
        <p:spPr>
          <a:xfrm>
            <a:off x="50" y="2948200"/>
            <a:ext cx="1639500" cy="9150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291619" lvl="0" indent="-208863" algn="l" rtl="0">
              <a:spcBef>
                <a:spcPts val="0"/>
              </a:spcBef>
              <a:spcAft>
                <a:spcPts val="0"/>
              </a:spcAft>
              <a:buSzPts val="993"/>
              <a:buChar char="●"/>
            </a:pPr>
            <a:r>
              <a:rPr lang="en" sz="992">
                <a:solidFill>
                  <a:schemeClr val="dk1"/>
                </a:solidFill>
              </a:rPr>
              <a:t>Create “Potato” folder contain a chrome-helper.bat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4294967295"/>
          </p:nvPr>
        </p:nvSpPr>
        <p:spPr>
          <a:xfrm>
            <a:off x="1618399" y="2752159"/>
            <a:ext cx="1478400" cy="9150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291619" lvl="0" indent="-208863" algn="l" rtl="0">
              <a:spcBef>
                <a:spcPts val="0"/>
              </a:spcBef>
              <a:spcAft>
                <a:spcPts val="0"/>
              </a:spcAft>
              <a:buSzPts val="993"/>
              <a:buChar char="●"/>
            </a:pPr>
            <a:r>
              <a:rPr lang="en" sz="992">
                <a:solidFill>
                  <a:schemeClr val="dk1"/>
                </a:solidFill>
              </a:rPr>
              <a:t>Get wifi password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4294967295"/>
          </p:nvPr>
        </p:nvSpPr>
        <p:spPr>
          <a:xfrm>
            <a:off x="3115590" y="2552054"/>
            <a:ext cx="1478400" cy="9150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291619" lvl="0" indent="-208863" algn="l" rtl="0">
              <a:spcBef>
                <a:spcPts val="0"/>
              </a:spcBef>
              <a:spcAft>
                <a:spcPts val="0"/>
              </a:spcAft>
              <a:buSzPts val="993"/>
              <a:buChar char="●"/>
            </a:pPr>
            <a:r>
              <a:rPr lang="en" sz="992">
                <a:solidFill>
                  <a:schemeClr val="dk1"/>
                </a:solidFill>
              </a:rPr>
              <a:t>Delete file in Telegram Folder</a:t>
            </a:r>
            <a:endParaRPr sz="992">
              <a:solidFill>
                <a:schemeClr val="dk1"/>
              </a:solidFill>
            </a:endParaRPr>
          </a:p>
          <a:p>
            <a:pPr marL="291619" lvl="0" indent="0" algn="l" rtl="0">
              <a:spcBef>
                <a:spcPts val="1021"/>
              </a:spcBef>
              <a:spcAft>
                <a:spcPts val="1021"/>
              </a:spcAft>
              <a:buNone/>
            </a:pPr>
            <a:endParaRPr sz="992">
              <a:solidFill>
                <a:schemeClr val="dk1"/>
              </a:solidFill>
            </a:endParaRPr>
          </a:p>
        </p:txBody>
      </p:sp>
      <p:sp>
        <p:nvSpPr>
          <p:cNvPr id="272" name="Google Shape;272;p33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3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4596625" y="2217078"/>
            <a:ext cx="1478400" cy="6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3"/>
          <p:cNvSpPr/>
          <p:nvPr/>
        </p:nvSpPr>
        <p:spPr>
          <a:xfrm>
            <a:off x="6075157" y="2018424"/>
            <a:ext cx="1478400" cy="6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3"/>
          <p:cNvSpPr/>
          <p:nvPr/>
        </p:nvSpPr>
        <p:spPr>
          <a:xfrm>
            <a:off x="7553690" y="1825175"/>
            <a:ext cx="1478400" cy="6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3"/>
          <p:cNvSpPr/>
          <p:nvPr/>
        </p:nvSpPr>
        <p:spPr>
          <a:xfrm rot="5400000">
            <a:off x="5916639" y="2121039"/>
            <a:ext cx="264600" cy="5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3"/>
          <p:cNvSpPr/>
          <p:nvPr/>
        </p:nvSpPr>
        <p:spPr>
          <a:xfrm rot="5400000">
            <a:off x="7396428" y="1924475"/>
            <a:ext cx="258000" cy="5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subTitle" idx="4294967295"/>
          </p:nvPr>
        </p:nvSpPr>
        <p:spPr>
          <a:xfrm>
            <a:off x="4892515" y="1891000"/>
            <a:ext cx="886800" cy="2607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21"/>
              </a:spcAft>
              <a:buNone/>
            </a:pPr>
            <a:r>
              <a:rPr lang="en" sz="1348" b="1">
                <a:solidFill>
                  <a:schemeClr val="accent1"/>
                </a:solidFill>
              </a:rPr>
              <a:t>Phase 4</a:t>
            </a:r>
            <a:endParaRPr sz="1348" b="1">
              <a:solidFill>
                <a:schemeClr val="accent1"/>
              </a:solidFill>
            </a:endParaRPr>
          </a:p>
        </p:txBody>
      </p:sp>
      <p:sp>
        <p:nvSpPr>
          <p:cNvPr id="280" name="Google Shape;280;p33"/>
          <p:cNvSpPr txBox="1">
            <a:spLocks noGrp="1"/>
          </p:cNvSpPr>
          <p:nvPr>
            <p:ph type="subTitle" idx="4294967295"/>
          </p:nvPr>
        </p:nvSpPr>
        <p:spPr>
          <a:xfrm>
            <a:off x="6371048" y="1689730"/>
            <a:ext cx="886800" cy="2607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21"/>
              </a:spcAft>
              <a:buNone/>
            </a:pPr>
            <a:r>
              <a:rPr lang="en" sz="1348" b="1">
                <a:solidFill>
                  <a:schemeClr val="accent1"/>
                </a:solidFill>
              </a:rPr>
              <a:t>Phase 5</a:t>
            </a:r>
            <a:endParaRPr sz="1348" b="1">
              <a:solidFill>
                <a:schemeClr val="accent1"/>
              </a:solidFill>
            </a:endParaRPr>
          </a:p>
        </p:txBody>
      </p:sp>
      <p:sp>
        <p:nvSpPr>
          <p:cNvPr id="281" name="Google Shape;281;p33"/>
          <p:cNvSpPr txBox="1">
            <a:spLocks noGrp="1"/>
          </p:cNvSpPr>
          <p:nvPr>
            <p:ph type="subTitle" idx="4294967295"/>
          </p:nvPr>
        </p:nvSpPr>
        <p:spPr>
          <a:xfrm>
            <a:off x="7849580" y="1503338"/>
            <a:ext cx="886800" cy="2607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021"/>
              </a:spcAft>
              <a:buNone/>
            </a:pPr>
            <a:r>
              <a:rPr lang="en" sz="1348" b="1">
                <a:solidFill>
                  <a:schemeClr val="accent1"/>
                </a:solidFill>
              </a:rPr>
              <a:t>Phase 6</a:t>
            </a:r>
            <a:endParaRPr sz="1348" b="1">
              <a:solidFill>
                <a:schemeClr val="accent1"/>
              </a:solidFill>
            </a:endParaRPr>
          </a:p>
        </p:txBody>
      </p:sp>
      <p:sp>
        <p:nvSpPr>
          <p:cNvPr id="282" name="Google Shape;282;p33"/>
          <p:cNvSpPr txBox="1">
            <a:spLocks noGrp="1"/>
          </p:cNvSpPr>
          <p:nvPr>
            <p:ph type="subTitle" idx="4294967295"/>
          </p:nvPr>
        </p:nvSpPr>
        <p:spPr>
          <a:xfrm>
            <a:off x="4586050" y="2348450"/>
            <a:ext cx="1527000" cy="9150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291619" lvl="0" indent="-208863" algn="l" rtl="0">
              <a:spcBef>
                <a:spcPts val="0"/>
              </a:spcBef>
              <a:spcAft>
                <a:spcPts val="0"/>
              </a:spcAft>
              <a:buSzPts val="993"/>
              <a:buChar char="●"/>
            </a:pPr>
            <a:r>
              <a:rPr lang="en" sz="992">
                <a:solidFill>
                  <a:schemeClr val="dk1"/>
                </a:solidFill>
              </a:rPr>
              <a:t>Copy the script/executable  to a startup folder 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subTitle" idx="4294967295"/>
          </p:nvPr>
        </p:nvSpPr>
        <p:spPr>
          <a:xfrm>
            <a:off x="6056499" y="2152322"/>
            <a:ext cx="1478400" cy="9150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291619" lvl="0" indent="-208863" algn="l" rtl="0">
              <a:spcBef>
                <a:spcPts val="0"/>
              </a:spcBef>
              <a:spcAft>
                <a:spcPts val="0"/>
              </a:spcAft>
              <a:buSzPts val="993"/>
              <a:buChar char="●"/>
            </a:pPr>
            <a:r>
              <a:rPr lang="en" sz="992">
                <a:solidFill>
                  <a:schemeClr val="dk1"/>
                </a:solidFill>
              </a:rPr>
              <a:t>Run continuously every 10 second 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284" name="Google Shape;284;p33"/>
          <p:cNvSpPr txBox="1">
            <a:spLocks noGrp="1"/>
          </p:cNvSpPr>
          <p:nvPr>
            <p:ph type="subTitle" idx="4294967295"/>
          </p:nvPr>
        </p:nvSpPr>
        <p:spPr>
          <a:xfrm>
            <a:off x="7553690" y="1952216"/>
            <a:ext cx="1478400" cy="915000"/>
          </a:xfrm>
          <a:prstGeom prst="rect">
            <a:avLst/>
          </a:prstGeom>
        </p:spPr>
        <p:txBody>
          <a:bodyPr spcFirstLastPara="1" wrap="square" lIns="58300" tIns="58300" rIns="58300" bIns="58300" anchor="t" anchorCtr="0">
            <a:noAutofit/>
          </a:bodyPr>
          <a:lstStyle/>
          <a:p>
            <a:pPr marL="291619" lvl="0" indent="-208863" algn="l" rtl="0">
              <a:spcBef>
                <a:spcPts val="0"/>
              </a:spcBef>
              <a:spcAft>
                <a:spcPts val="0"/>
              </a:spcAft>
              <a:buSzPts val="993"/>
              <a:buChar char="●"/>
            </a:pPr>
            <a:r>
              <a:rPr lang="en" sz="992">
                <a:solidFill>
                  <a:schemeClr val="dk1"/>
                </a:solidFill>
              </a:rPr>
              <a:t>Occupy CPU</a:t>
            </a:r>
            <a:endParaRPr sz="992">
              <a:solidFill>
                <a:schemeClr val="dk1"/>
              </a:solidFill>
            </a:endParaRPr>
          </a:p>
        </p:txBody>
      </p:sp>
      <p:sp>
        <p:nvSpPr>
          <p:cNvPr id="285" name="Google Shape;285;p33"/>
          <p:cNvSpPr/>
          <p:nvPr/>
        </p:nvSpPr>
        <p:spPr>
          <a:xfrm rot="5400000">
            <a:off x="4489000" y="2324025"/>
            <a:ext cx="273300" cy="5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58300" tIns="58300" rIns="58300" bIns="583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3"/>
          <p:cNvSpPr txBox="1">
            <a:spLocks noGrp="1"/>
          </p:cNvSpPr>
          <p:nvPr>
            <p:ph type="sldNum" idx="12"/>
          </p:nvPr>
        </p:nvSpPr>
        <p:spPr>
          <a:xfrm>
            <a:off x="8483391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6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Anti Code Implementation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2" name="Google Shape;292;p34"/>
          <p:cNvCxnSpPr>
            <a:stCxn id="293" idx="2"/>
            <a:endCxn id="294" idx="0"/>
          </p:cNvCxnSpPr>
          <p:nvPr/>
        </p:nvCxnSpPr>
        <p:spPr>
          <a:xfrm rot="-5400000" flipH="1">
            <a:off x="5567200" y="608425"/>
            <a:ext cx="528300" cy="27705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5" name="Google Shape;295;p34"/>
          <p:cNvCxnSpPr>
            <a:stCxn id="296" idx="0"/>
            <a:endCxn id="293" idx="2"/>
          </p:cNvCxnSpPr>
          <p:nvPr/>
        </p:nvCxnSpPr>
        <p:spPr>
          <a:xfrm rot="-5400000">
            <a:off x="3084438" y="896185"/>
            <a:ext cx="528300" cy="21951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7" name="Google Shape;297;p34"/>
          <p:cNvCxnSpPr>
            <a:stCxn id="298" idx="0"/>
            <a:endCxn id="296" idx="2"/>
          </p:cNvCxnSpPr>
          <p:nvPr/>
        </p:nvCxnSpPr>
        <p:spPr>
          <a:xfrm rot="-5400000">
            <a:off x="1187900" y="2277800"/>
            <a:ext cx="684300" cy="14421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299" name="Google Shape;299;p34"/>
          <p:cNvCxnSpPr>
            <a:stCxn id="294" idx="2"/>
            <a:endCxn id="300" idx="0"/>
          </p:cNvCxnSpPr>
          <p:nvPr/>
        </p:nvCxnSpPr>
        <p:spPr>
          <a:xfrm rot="-5400000" flipH="1">
            <a:off x="7572475" y="2300785"/>
            <a:ext cx="684300" cy="13959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1" name="Google Shape;301;p34"/>
          <p:cNvCxnSpPr>
            <a:stCxn id="302" idx="0"/>
            <a:endCxn id="294" idx="2"/>
          </p:cNvCxnSpPr>
          <p:nvPr/>
        </p:nvCxnSpPr>
        <p:spPr>
          <a:xfrm rot="-5400000">
            <a:off x="6040400" y="2164850"/>
            <a:ext cx="684300" cy="16680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93" name="Google Shape;293;p34"/>
          <p:cNvSpPr txBox="1"/>
          <p:nvPr/>
        </p:nvSpPr>
        <p:spPr>
          <a:xfrm>
            <a:off x="3273100" y="1279225"/>
            <a:ext cx="2346000" cy="450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WatchDog script</a:t>
            </a:r>
            <a:endParaRPr sz="18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34"/>
          <p:cNvSpPr txBox="1"/>
          <p:nvPr/>
        </p:nvSpPr>
        <p:spPr>
          <a:xfrm>
            <a:off x="1481988" y="2257885"/>
            <a:ext cx="1538100" cy="3987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Monitor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34"/>
          <p:cNvSpPr txBox="1"/>
          <p:nvPr/>
        </p:nvSpPr>
        <p:spPr>
          <a:xfrm>
            <a:off x="6447625" y="2257885"/>
            <a:ext cx="1538100" cy="3987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Anti-delete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4"/>
          <p:cNvSpPr txBox="1"/>
          <p:nvPr/>
        </p:nvSpPr>
        <p:spPr>
          <a:xfrm>
            <a:off x="8081100" y="3341000"/>
            <a:ext cx="1062900" cy="398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Rerun in 10 s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4819550" y="3341000"/>
            <a:ext cx="1458000" cy="398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Create backup folder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34"/>
          <p:cNvSpPr txBox="1"/>
          <p:nvPr/>
        </p:nvSpPr>
        <p:spPr>
          <a:xfrm>
            <a:off x="1729350" y="3341000"/>
            <a:ext cx="1115100" cy="398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CPU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154400" y="3341000"/>
            <a:ext cx="1309200" cy="398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File &amp; Folder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34"/>
          <p:cNvSpPr txBox="1"/>
          <p:nvPr/>
        </p:nvSpPr>
        <p:spPr>
          <a:xfrm>
            <a:off x="6651630" y="3341000"/>
            <a:ext cx="1201800" cy="398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Set permission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5" name="Google Shape;305;p34"/>
          <p:cNvCxnSpPr>
            <a:stCxn id="294" idx="2"/>
          </p:cNvCxnSpPr>
          <p:nvPr/>
        </p:nvCxnSpPr>
        <p:spPr>
          <a:xfrm>
            <a:off x="7216675" y="2656585"/>
            <a:ext cx="0" cy="68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" name="Google Shape;306;p34"/>
          <p:cNvSpPr txBox="1"/>
          <p:nvPr/>
        </p:nvSpPr>
        <p:spPr>
          <a:xfrm>
            <a:off x="3194925" y="3341000"/>
            <a:ext cx="1201800" cy="3987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Wifi access</a:t>
            </a:r>
            <a:endParaRPr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7" name="Google Shape;307;p34"/>
          <p:cNvCxnSpPr>
            <a:stCxn id="296" idx="2"/>
            <a:endCxn id="303" idx="0"/>
          </p:cNvCxnSpPr>
          <p:nvPr/>
        </p:nvCxnSpPr>
        <p:spPr>
          <a:xfrm rot="-5400000" flipH="1">
            <a:off x="1926888" y="2980735"/>
            <a:ext cx="684300" cy="36000"/>
          </a:xfrm>
          <a:prstGeom prst="bentConnector3">
            <a:avLst>
              <a:gd name="adj1" fmla="val 99071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cxnSp>
        <p:nvCxnSpPr>
          <p:cNvPr id="308" name="Google Shape;308;p34"/>
          <p:cNvCxnSpPr/>
          <p:nvPr/>
        </p:nvCxnSpPr>
        <p:spPr>
          <a:xfrm>
            <a:off x="2206400" y="3001875"/>
            <a:ext cx="1740600" cy="334800"/>
          </a:xfrm>
          <a:prstGeom prst="bentConnector3">
            <a:avLst>
              <a:gd name="adj1" fmla="val 93663"/>
            </a:avLst>
          </a:prstGeom>
          <a:noFill/>
          <a:ln w="1905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09" name="Google Shape;309;p34"/>
          <p:cNvSpPr txBox="1">
            <a:spLocks noGrp="1"/>
          </p:cNvSpPr>
          <p:nvPr>
            <p:ph type="sldNum" idx="12"/>
          </p:nvPr>
        </p:nvSpPr>
        <p:spPr>
          <a:xfrm>
            <a:off x="8612584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7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Anti Code Implementation Demonstration  </a:t>
            </a:r>
            <a:endParaRPr sz="2600"/>
          </a:p>
        </p:txBody>
      </p:sp>
      <p:pic>
        <p:nvPicPr>
          <p:cNvPr id="315" name="Google Shape;315;p35" title="Screen Recording 2025-07-26 22303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2050" y="903325"/>
            <a:ext cx="7074101" cy="38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>
            <a:spLocks noGrp="1"/>
          </p:cNvSpPr>
          <p:nvPr>
            <p:ph type="title"/>
          </p:nvPr>
        </p:nvSpPr>
        <p:spPr>
          <a:xfrm>
            <a:off x="717900" y="135350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Fake Chrome Update Page (ZIP Malware Delivery)</a:t>
            </a:r>
            <a:endParaRPr sz="2600"/>
          </a:p>
        </p:txBody>
      </p:sp>
      <p:sp>
        <p:nvSpPr>
          <p:cNvPr id="322" name="Google Shape;32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23" name="Google Shape;323;p36"/>
          <p:cNvSpPr txBox="1"/>
          <p:nvPr/>
        </p:nvSpPr>
        <p:spPr>
          <a:xfrm>
            <a:off x="717900" y="1325388"/>
            <a:ext cx="74235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+"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goal: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simulate a realistic fake chrome update site that delivers a zip-based malware payload, used in attack chain.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+"/>
            </a:pPr>
            <a:r>
              <a:rPr lang="en" b="1"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4" name="Google Shape;32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272" y="2926722"/>
            <a:ext cx="343750" cy="34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6"/>
          <p:cNvSpPr txBox="1"/>
          <p:nvPr/>
        </p:nvSpPr>
        <p:spPr>
          <a:xfrm>
            <a:off x="1233025" y="2901550"/>
            <a:ext cx="2992800" cy="13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Index.html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Chrome.ico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chrome-setup.zip</a:t>
            </a:r>
            <a:endParaRPr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600" y="3817375"/>
            <a:ext cx="299100" cy="2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7625" y="3354450"/>
            <a:ext cx="247034" cy="2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9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Hosting Methodology</a:t>
            </a:r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34" name="Google Shape;334;p37"/>
          <p:cNvSpPr txBox="1"/>
          <p:nvPr/>
        </p:nvSpPr>
        <p:spPr>
          <a:xfrm>
            <a:off x="717800" y="1125125"/>
            <a:ext cx="7423500" cy="17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Platform: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Github Pages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we gain from the victim: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+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HTTPS by default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+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Publicly accessible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+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Mimic a real software distribution channels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37"/>
          <p:cNvSpPr txBox="1"/>
          <p:nvPr/>
        </p:nvSpPr>
        <p:spPr>
          <a:xfrm>
            <a:off x="717800" y="2825225"/>
            <a:ext cx="69726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u="sng">
                <a:solidFill>
                  <a:srgbClr val="0969DA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https://qut-code.github.io/chrome-setup/</a:t>
            </a:r>
            <a:endParaRPr/>
          </a:p>
        </p:txBody>
      </p:sp>
      <p:pic>
        <p:nvPicPr>
          <p:cNvPr id="336" name="Google Shape;33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250" y="1125125"/>
            <a:ext cx="3283525" cy="320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8"/>
          <p:cNvSpPr txBox="1">
            <a:spLocks noGrp="1"/>
          </p:cNvSpPr>
          <p:nvPr>
            <p:ph type="title"/>
          </p:nvPr>
        </p:nvSpPr>
        <p:spPr>
          <a:xfrm>
            <a:off x="3003850" y="2649925"/>
            <a:ext cx="6187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First Solution Techniques and Anti-Techniques</a:t>
            </a:r>
            <a:endParaRPr/>
          </a:p>
        </p:txBody>
      </p:sp>
      <p:sp>
        <p:nvSpPr>
          <p:cNvPr id="342" name="Google Shape;342;p38"/>
          <p:cNvSpPr txBox="1">
            <a:spLocks noGrp="1"/>
          </p:cNvSpPr>
          <p:nvPr>
            <p:ph type="title" idx="2"/>
          </p:nvPr>
        </p:nvSpPr>
        <p:spPr>
          <a:xfrm>
            <a:off x="3776425" y="1478150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43" name="Google Shape;343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083900" y="3521700"/>
            <a:ext cx="4991100" cy="639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Technique -Bettercap</a:t>
            </a:r>
            <a:endParaRPr/>
          </a:p>
        </p:txBody>
      </p:sp>
      <p:sp>
        <p:nvSpPr>
          <p:cNvPr id="350" name="Google Shape;350;p39"/>
          <p:cNvSpPr txBox="1"/>
          <p:nvPr/>
        </p:nvSpPr>
        <p:spPr>
          <a:xfrm>
            <a:off x="717800" y="1125125"/>
            <a:ext cx="7423500" cy="3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the delivery technique, we perform DNS spoofing as well as ARP spoofing, using bettercap from Kali Linux (Attacker) to Window (Victim) and below is the method: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Kali Linux: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sudo bettercap -iface &lt;network interface&gt;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net.probe 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net.showset arp.spoof.targets &lt;victim IP&gt;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dns.spoof.domains &lt;Domain name&gt;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dns.spoof.address &lt;attacker IP&gt;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arp.spoof 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dns.spoof 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12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0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Technique -Bettercap</a:t>
            </a:r>
            <a:endParaRPr/>
          </a:p>
        </p:txBody>
      </p:sp>
      <p:sp>
        <p:nvSpPr>
          <p:cNvPr id="357" name="Google Shape;357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13</a:t>
            </a:fld>
            <a:endParaRPr>
              <a:solidFill>
                <a:schemeClr val="accent1"/>
              </a:solidFill>
            </a:endParaRPr>
          </a:p>
        </p:txBody>
      </p:sp>
      <p:pic>
        <p:nvPicPr>
          <p:cNvPr id="358" name="Google Shape;35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450" y="1030875"/>
            <a:ext cx="7708201" cy="397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1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Technique -Bettercap</a:t>
            </a:r>
            <a:endParaRPr/>
          </a:p>
        </p:txBody>
      </p:sp>
      <p:pic>
        <p:nvPicPr>
          <p:cNvPr id="364" name="Google Shape;364;p41" title="0729 (2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800" y="1030875"/>
            <a:ext cx="7002169" cy="38078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14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Anti-Delivery Technique -Bettercap</a:t>
            </a:r>
            <a:endParaRPr/>
          </a:p>
        </p:txBody>
      </p:sp>
      <p:sp>
        <p:nvSpPr>
          <p:cNvPr id="371" name="Google Shape;371;p42"/>
          <p:cNvSpPr txBox="1"/>
          <p:nvPr/>
        </p:nvSpPr>
        <p:spPr>
          <a:xfrm>
            <a:off x="797550" y="1546799"/>
            <a:ext cx="6583800" cy="10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encrypts your data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routes everything through a secure tunnel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makes local attacks irrelevant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2"/>
          <p:cNvSpPr txBox="1"/>
          <p:nvPr/>
        </p:nvSpPr>
        <p:spPr>
          <a:xfrm>
            <a:off x="717800" y="1063949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Use VPN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73" name="Google Shape;373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15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374" name="Google Shape;374;p42"/>
          <p:cNvSpPr txBox="1"/>
          <p:nvPr/>
        </p:nvSpPr>
        <p:spPr>
          <a:xfrm>
            <a:off x="890125" y="3184500"/>
            <a:ext cx="6583800" cy="1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Turn off site permission for Auto-Download</a:t>
            </a:r>
            <a:b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9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Privacy, search, and services -&gt; Site permissions -&gt; All permissions -&gt; Automatic downloads (Choose either turn off or ask first)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797550" y="2615099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Manual Work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Auto-Executing Technique -Startup</a:t>
            </a:r>
            <a:endParaRPr/>
          </a:p>
        </p:txBody>
      </p:sp>
      <p:sp>
        <p:nvSpPr>
          <p:cNvPr id="381" name="Google Shape;381;p43"/>
          <p:cNvSpPr txBox="1"/>
          <p:nvPr/>
        </p:nvSpPr>
        <p:spPr>
          <a:xfrm>
            <a:off x="717800" y="1125125"/>
            <a:ext cx="7423500" cy="3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2" name="Google Shape;38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0350"/>
            <a:ext cx="8593249" cy="25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16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Auto-Executing Technique -Startup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800" y="1266350"/>
            <a:ext cx="7830125" cy="235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17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Anti-Executing Technique -Startup</a:t>
            </a:r>
            <a:endParaRPr/>
          </a:p>
        </p:txBody>
      </p:sp>
      <p:sp>
        <p:nvSpPr>
          <p:cNvPr id="396" name="Google Shape;396;p45"/>
          <p:cNvSpPr txBox="1"/>
          <p:nvPr/>
        </p:nvSpPr>
        <p:spPr>
          <a:xfrm>
            <a:off x="798150" y="1846000"/>
            <a:ext cx="7708200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Once you find suspicious activity, you can check Task Manager for anything in startup folder or use win+R and type shell:startup to look at unfamiliar executable or shortcut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45"/>
          <p:cNvSpPr txBox="1"/>
          <p:nvPr/>
        </p:nvSpPr>
        <p:spPr>
          <a:xfrm>
            <a:off x="717800" y="1276600"/>
            <a:ext cx="5066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Manually deletion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398" name="Google Shape;398;p45"/>
          <p:cNvSpPr txBox="1"/>
          <p:nvPr/>
        </p:nvSpPr>
        <p:spPr>
          <a:xfrm>
            <a:off x="798150" y="3024400"/>
            <a:ext cx="5438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Set Policy</a:t>
            </a:r>
            <a:endParaRPr/>
          </a:p>
        </p:txBody>
      </p:sp>
      <p:sp>
        <p:nvSpPr>
          <p:cNvPr id="399" name="Google Shape;399;p45"/>
          <p:cNvSpPr txBox="1"/>
          <p:nvPr/>
        </p:nvSpPr>
        <p:spPr>
          <a:xfrm>
            <a:off x="870300" y="3593800"/>
            <a:ext cx="77082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Group Policy for restricting for adding .exe or shortcut into startup folder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 to Setting -&gt; Apps -&gt; Startup -&gt; disable application of suspicion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18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>
            <a:spLocks noGrp="1"/>
          </p:cNvSpPr>
          <p:nvPr>
            <p:ph type="title"/>
          </p:nvPr>
        </p:nvSpPr>
        <p:spPr>
          <a:xfrm>
            <a:off x="717900" y="383175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</a:t>
            </a:r>
            <a:endParaRPr/>
          </a:p>
        </p:txBody>
      </p:sp>
      <p:sp>
        <p:nvSpPr>
          <p:cNvPr id="406" name="Google Shape;406;p46"/>
          <p:cNvSpPr txBox="1">
            <a:spLocks noGrp="1"/>
          </p:cNvSpPr>
          <p:nvPr>
            <p:ph type="subTitle" idx="1"/>
          </p:nvPr>
        </p:nvSpPr>
        <p:spPr>
          <a:xfrm>
            <a:off x="769950" y="1123575"/>
            <a:ext cx="7203000" cy="3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Botnet Command &amp; Control (C2)</a:t>
            </a:r>
            <a:endParaRPr sz="1600" b="1">
              <a:solidFill>
                <a:schemeClr val="accent5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 botnet is a collection of internet-connected devices including PCs, servers, mobile devices and internet of things (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3"/>
              </a:rPr>
              <a:t>IoT</a:t>
            </a:r>
            <a:r>
              <a:rPr lang="en">
                <a:highlight>
                  <a:srgbClr val="FFFFFF"/>
                </a:highlight>
              </a:rPr>
              <a:t>) devices, infected and controlled by a common type of 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4"/>
              </a:rPr>
              <a:t>malware</a:t>
            </a:r>
            <a:r>
              <a:rPr lang="en">
                <a:highlight>
                  <a:srgbClr val="FFFFFF"/>
                </a:highlight>
              </a:rPr>
              <a:t>, often unbeknownst to their owners.</a:t>
            </a:r>
            <a:endParaRPr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It commonly used to send 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5"/>
              </a:rPr>
              <a:t>spam emails</a:t>
            </a:r>
            <a:r>
              <a:rPr lang="en">
                <a:highlight>
                  <a:srgbClr val="FFFFFF"/>
                </a:highlight>
              </a:rPr>
              <a:t>, engage in 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6"/>
              </a:rPr>
              <a:t>click fraud</a:t>
            </a:r>
            <a:r>
              <a:rPr lang="en">
                <a:highlight>
                  <a:srgbClr val="FFFFFF"/>
                </a:highlight>
              </a:rPr>
              <a:t> campaigns and generate malicious traffic for distributed denial-of-service (</a:t>
            </a:r>
            <a:r>
              <a:rPr lang="en">
                <a:highlight>
                  <a:srgbClr val="FFFFFF"/>
                </a:highlight>
                <a:uFill>
                  <a:noFill/>
                </a:uFill>
                <a:hlinkClick r:id="rId7"/>
              </a:rPr>
              <a:t>DDoS</a:t>
            </a:r>
            <a:r>
              <a:rPr lang="en">
                <a:highlight>
                  <a:srgbClr val="FFFFFF"/>
                </a:highlight>
              </a:rPr>
              <a:t>) attacks.</a:t>
            </a:r>
            <a:endParaRPr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07" name="Google Shape;407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>
            <a:spLocks noGrp="1"/>
          </p:cNvSpPr>
          <p:nvPr>
            <p:ph type="title"/>
          </p:nvPr>
        </p:nvSpPr>
        <p:spPr>
          <a:xfrm>
            <a:off x="717900" y="473875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 </a:t>
            </a:r>
            <a:endParaRPr/>
          </a:p>
        </p:txBody>
      </p:sp>
      <p:sp>
        <p:nvSpPr>
          <p:cNvPr id="413" name="Google Shape;413;p47"/>
          <p:cNvSpPr txBox="1">
            <a:spLocks noGrp="1"/>
          </p:cNvSpPr>
          <p:nvPr>
            <p:ph type="subTitle" idx="1"/>
          </p:nvPr>
        </p:nvSpPr>
        <p:spPr>
          <a:xfrm>
            <a:off x="717900" y="1214275"/>
            <a:ext cx="7203000" cy="3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Botnet Command &amp; Control (C2)</a:t>
            </a:r>
            <a:endParaRPr sz="1600" b="1">
              <a:solidFill>
                <a:schemeClr val="accent5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 this simulation, we demonstrate how malware can spread remotely using a botnet, controlled via a Command &amp; Control (C2) system.</a:t>
            </a:r>
            <a:endParaRPr/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utilize the BYOB (Build Your Own Botnet) framework to infect a host (bot) and deliver malicious payloads via reverse shell.</a:t>
            </a:r>
            <a:endParaRPr/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14" name="Google Shape;414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8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 </a:t>
            </a:r>
            <a:endParaRPr/>
          </a:p>
        </p:txBody>
      </p:sp>
      <p:sp>
        <p:nvSpPr>
          <p:cNvPr id="420" name="Google Shape;420;p48"/>
          <p:cNvSpPr txBox="1">
            <a:spLocks noGrp="1"/>
          </p:cNvSpPr>
          <p:nvPr>
            <p:ph type="subTitle" idx="1"/>
          </p:nvPr>
        </p:nvSpPr>
        <p:spPr>
          <a:xfrm>
            <a:off x="543600" y="913825"/>
            <a:ext cx="8220900" cy="3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Botnet setup with BYOB: On attacker machine (Kali)</a:t>
            </a:r>
            <a:endParaRPr sz="1600" b="1">
              <a:solidFill>
                <a:schemeClr val="accent5"/>
              </a:solidFill>
            </a:endParaRPr>
          </a:p>
          <a:p>
            <a:pPr marL="8001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➢"/>
            </a:pPr>
            <a:r>
              <a:rPr lang="en" sz="1600">
                <a:solidFill>
                  <a:schemeClr val="accent5"/>
                </a:solidFill>
              </a:rPr>
              <a:t>Key Takeaways</a:t>
            </a:r>
            <a:endParaRPr sz="1600">
              <a:solidFill>
                <a:schemeClr val="accent5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We need one compromised machine (the first bot) to start.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On that system, we run a payload generated by BYOB, which connects back to our Command &amp; Control (C2) server.</a:t>
            </a:r>
            <a:endParaRPr sz="1600">
              <a:solidFill>
                <a:schemeClr val="accent5"/>
              </a:solidFill>
            </a:endParaRPr>
          </a:p>
          <a:p>
            <a:pPr marL="8001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➢"/>
            </a:pPr>
            <a:r>
              <a:rPr lang="en" sz="1600">
                <a:solidFill>
                  <a:schemeClr val="accent5"/>
                </a:solidFill>
              </a:rPr>
              <a:t>BYOB infrastructure</a:t>
            </a:r>
            <a:endParaRPr sz="1600">
              <a:solidFill>
                <a:schemeClr val="accent5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byob-payload/ : generate payloads (reverse shells) 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byob-c2/ : Command and Control (C2) interface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modules/ : Reusable modules that bots can execute (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webcam.py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keylogger.py …)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plugins/ : Custom plugin scripts that you can upload to bots.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clients/ : bot info and logs</a:t>
            </a: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21" name="Google Shape;421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9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 </a:t>
            </a:r>
            <a:endParaRPr/>
          </a:p>
        </p:txBody>
      </p:sp>
      <p:sp>
        <p:nvSpPr>
          <p:cNvPr id="427" name="Google Shape;427;p49"/>
          <p:cNvSpPr txBox="1">
            <a:spLocks noGrp="1"/>
          </p:cNvSpPr>
          <p:nvPr>
            <p:ph type="subTitle" idx="1"/>
          </p:nvPr>
        </p:nvSpPr>
        <p:spPr>
          <a:xfrm>
            <a:off x="543600" y="913825"/>
            <a:ext cx="8004600" cy="3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Botnet setup with BYOB: </a:t>
            </a:r>
            <a:r>
              <a:rPr lang="en" sz="1600" b="1">
                <a:solidFill>
                  <a:schemeClr val="accent1"/>
                </a:solidFill>
              </a:rPr>
              <a:t>On attacker machine (Kali)</a:t>
            </a:r>
            <a:endParaRPr sz="1600" b="1">
              <a:solidFill>
                <a:schemeClr val="accent5"/>
              </a:solidFill>
            </a:endParaRPr>
          </a:p>
          <a:p>
            <a:pPr marL="8001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➢"/>
            </a:pPr>
            <a:r>
              <a:rPr lang="en" sz="1600">
                <a:solidFill>
                  <a:schemeClr val="accent5"/>
                </a:solidFill>
              </a:rPr>
              <a:t>BYOB configuration </a:t>
            </a:r>
            <a:endParaRPr sz="1600">
              <a:solidFill>
                <a:schemeClr val="accent5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Clone BYOB framework from github repository</a:t>
            </a:r>
            <a:endParaRPr>
              <a:solidFill>
                <a:schemeClr val="accent1"/>
              </a:solidFill>
            </a:endParaRPr>
          </a:p>
          <a:p>
            <a:pPr marL="12573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i="1"/>
              <a:t>git clone</a:t>
            </a:r>
            <a:r>
              <a:rPr lang="en"/>
              <a:t> </a:t>
            </a:r>
            <a:r>
              <a:rPr lang="en" u="sng">
                <a:solidFill>
                  <a:srgbClr val="18803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https://github.com/malwaredllc/byob.git</a:t>
            </a:r>
            <a:r>
              <a:rPr lang="en"/>
              <a:t> 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Create a Python virtual environment venv) to avoids conflicts system             Python packages.</a:t>
            </a:r>
            <a:endParaRPr>
              <a:solidFill>
                <a:schemeClr val="accent1"/>
              </a:solidFill>
            </a:endParaRPr>
          </a:p>
          <a:p>
            <a:pPr marL="12573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i="1">
                <a:solidFill>
                  <a:schemeClr val="accent1"/>
                </a:solidFill>
              </a:rPr>
              <a:t>python3 -m venv venv</a:t>
            </a:r>
            <a:endParaRPr i="1">
              <a:solidFill>
                <a:schemeClr val="accent1"/>
              </a:solidFill>
            </a:endParaRPr>
          </a:p>
          <a:p>
            <a:pPr marL="12573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Activate it:</a:t>
            </a:r>
            <a:r>
              <a:rPr lang="en" i="1">
                <a:solidFill>
                  <a:schemeClr val="accent1"/>
                </a:solidFill>
              </a:rPr>
              <a:t> source venv/bin/activate</a:t>
            </a:r>
            <a:endParaRPr i="1"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Launch BYOB API</a:t>
            </a:r>
            <a:endParaRPr>
              <a:solidFill>
                <a:schemeClr val="accent1"/>
              </a:solidFill>
            </a:endParaRPr>
          </a:p>
          <a:p>
            <a:pPr marL="12573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 i="1">
                <a:solidFill>
                  <a:schemeClr val="accent1"/>
                </a:solidFill>
              </a:rPr>
              <a:t>python3 run.py</a:t>
            </a:r>
            <a:endParaRPr i="1">
              <a:solidFill>
                <a:schemeClr val="accent1"/>
              </a:solidFill>
            </a:endParaRPr>
          </a:p>
          <a:p>
            <a:pPr marL="9144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i="1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28" name="Google Shape;428;p4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3" name="Google Shape;43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075" y="2088600"/>
            <a:ext cx="6014056" cy="29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775" y="164550"/>
            <a:ext cx="683895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1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</a:t>
            </a:r>
            <a:endParaRPr/>
          </a:p>
        </p:txBody>
      </p:sp>
      <p:sp>
        <p:nvSpPr>
          <p:cNvPr id="441" name="Google Shape;441;p51"/>
          <p:cNvSpPr txBox="1">
            <a:spLocks noGrp="1"/>
          </p:cNvSpPr>
          <p:nvPr>
            <p:ph type="subTitle" idx="1"/>
          </p:nvPr>
        </p:nvSpPr>
        <p:spPr>
          <a:xfrm>
            <a:off x="543600" y="913825"/>
            <a:ext cx="8004600" cy="3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Botnet setup with BYOB</a:t>
            </a:r>
            <a:endParaRPr sz="1600" b="1">
              <a:solidFill>
                <a:schemeClr val="accent5"/>
              </a:solidFill>
            </a:endParaRPr>
          </a:p>
          <a:p>
            <a:pPr marL="8001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➢"/>
            </a:pPr>
            <a:r>
              <a:rPr lang="en" sz="1600">
                <a:solidFill>
                  <a:schemeClr val="accent5"/>
                </a:solidFill>
              </a:rPr>
              <a:t>Payload generated and configuration</a:t>
            </a:r>
            <a:endParaRPr sz="1600">
              <a:solidFill>
                <a:schemeClr val="accent5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Inside payload:</a:t>
            </a: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125730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The IP address of the C2 server in the payload is encoded, so we                   need to replace the default IP with our IP address.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442" name="Google Shape;44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525" y="2000250"/>
            <a:ext cx="51339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2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</a:t>
            </a:r>
            <a:endParaRPr/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543600" y="913825"/>
            <a:ext cx="78465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Botnet setup with BYOB</a:t>
            </a:r>
            <a:endParaRPr sz="1600" b="1">
              <a:solidFill>
                <a:schemeClr val="accent5"/>
              </a:solidFill>
            </a:endParaRPr>
          </a:p>
          <a:p>
            <a:pPr marL="8001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➢"/>
            </a:pPr>
            <a:r>
              <a:rPr lang="en" sz="1600">
                <a:solidFill>
                  <a:schemeClr val="accent5"/>
                </a:solidFill>
              </a:rPr>
              <a:t>Payload generated and configuration</a:t>
            </a:r>
            <a:endParaRPr>
              <a:solidFill>
                <a:schemeClr val="accent1"/>
              </a:solidFill>
            </a:endParaRPr>
          </a:p>
          <a:p>
            <a:pPr marL="9144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Open the payload script and editing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1257300" lvl="1" indent="-31750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Link to the given URL, replace your IP on the default IP </a:t>
            </a: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450" name="Google Shape;4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125" y="2021638"/>
            <a:ext cx="6356850" cy="11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0100" y="3642100"/>
            <a:ext cx="497205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3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</a:t>
            </a:r>
            <a:endParaRPr/>
          </a:p>
        </p:txBody>
      </p:sp>
      <p:sp>
        <p:nvSpPr>
          <p:cNvPr id="458" name="Google Shape;458;p53"/>
          <p:cNvSpPr txBox="1">
            <a:spLocks noGrp="1"/>
          </p:cNvSpPr>
          <p:nvPr>
            <p:ph type="subTitle" idx="1"/>
          </p:nvPr>
        </p:nvSpPr>
        <p:spPr>
          <a:xfrm>
            <a:off x="543600" y="913825"/>
            <a:ext cx="8365200" cy="39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After running it on the first machine, it connected to my C2 server at</a:t>
            </a:r>
            <a:r>
              <a:rPr lang="en">
                <a:solidFill>
                  <a:srgbClr val="188038"/>
                </a:solidFill>
              </a:rPr>
              <a:t> 192.168.136.128</a:t>
            </a:r>
            <a:endParaRPr>
              <a:solidFill>
                <a:srgbClr val="188038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</a:pPr>
            <a:r>
              <a:rPr lang="en">
                <a:solidFill>
                  <a:schemeClr val="accent1"/>
                </a:solidFill>
              </a:rPr>
              <a:t>Then, we used the C2 interface to:</a:t>
            </a:r>
            <a:endParaRPr>
              <a:solidFill>
                <a:schemeClr val="accent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Push a script to the bot (</a:t>
            </a:r>
            <a:r>
              <a:rPr lang="en">
                <a:solidFill>
                  <a:srgbClr val="188038"/>
                </a:solidFill>
              </a:rPr>
              <a:t>telegram_ui_control.py</a:t>
            </a:r>
            <a:r>
              <a:rPr lang="en">
                <a:solidFill>
                  <a:schemeClr val="dk1"/>
                </a:solidFill>
              </a:rPr>
              <a:t>).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>
                <a:solidFill>
                  <a:schemeClr val="accent1"/>
                </a:solidFill>
              </a:rPr>
              <a:t>Script simulates human behavior: opens Telegram, writes message, sends a spoofing link.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.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459" name="Google Shape;459;p5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4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Architecture -Botnet </a:t>
            </a:r>
            <a:endParaRPr/>
          </a:p>
        </p:txBody>
      </p:sp>
      <p:pic>
        <p:nvPicPr>
          <p:cNvPr id="465" name="Google Shape;46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425" y="1198463"/>
            <a:ext cx="7965024" cy="274656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55" title="Firstsrtart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250" y="1334500"/>
            <a:ext cx="7960675" cy="36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55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 </a:t>
            </a:r>
            <a:endParaRPr/>
          </a:p>
        </p:txBody>
      </p:sp>
      <p:sp>
        <p:nvSpPr>
          <p:cNvPr id="473" name="Google Shape;473;p55"/>
          <p:cNvSpPr txBox="1">
            <a:spLocks noGrp="1"/>
          </p:cNvSpPr>
          <p:nvPr>
            <p:ph type="subTitle" idx="4294967295"/>
          </p:nvPr>
        </p:nvSpPr>
        <p:spPr>
          <a:xfrm>
            <a:off x="636475" y="831250"/>
            <a:ext cx="83439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b="1">
                <a:solidFill>
                  <a:schemeClr val="accent1"/>
                </a:solidFill>
              </a:rPr>
              <a:t>Setup and Configuration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.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  <p:sp>
        <p:nvSpPr>
          <p:cNvPr id="474" name="Google Shape;474;p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28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6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-Botnet </a:t>
            </a:r>
            <a:endParaRPr/>
          </a:p>
        </p:txBody>
      </p:sp>
      <p:sp>
        <p:nvSpPr>
          <p:cNvPr id="480" name="Google Shape;480;p56"/>
          <p:cNvSpPr txBox="1">
            <a:spLocks noGrp="1"/>
          </p:cNvSpPr>
          <p:nvPr>
            <p:ph type="subTitle" idx="4294967295"/>
          </p:nvPr>
        </p:nvSpPr>
        <p:spPr>
          <a:xfrm>
            <a:off x="636475" y="831250"/>
            <a:ext cx="8343900" cy="4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 b="1">
                <a:solidFill>
                  <a:schemeClr val="accent1"/>
                </a:solidFill>
              </a:rPr>
              <a:t>Spreading using reverse shell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.</a:t>
            </a: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b="1"/>
          </a:p>
        </p:txBody>
      </p:sp>
      <p:pic>
        <p:nvPicPr>
          <p:cNvPr id="481" name="Google Shape;481;p56" title="SpreadToTelegram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475" y="1312700"/>
            <a:ext cx="8054198" cy="3591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29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Anti-Botnet Spreading</a:t>
            </a:r>
            <a:endParaRPr/>
          </a:p>
        </p:txBody>
      </p:sp>
      <p:sp>
        <p:nvSpPr>
          <p:cNvPr id="488" name="Google Shape;488;p57"/>
          <p:cNvSpPr txBox="1"/>
          <p:nvPr/>
        </p:nvSpPr>
        <p:spPr>
          <a:xfrm>
            <a:off x="717800" y="1256050"/>
            <a:ext cx="80652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Detection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Monitor traffic, use signatures, analyze behavior, deploy honeypots, apply machine learning.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Prevention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Keep systems updated, use antivirus/firewall, disable unused services, enforce strong passwords/MFA, educate users.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Removal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Disconnect infected devices, run antivirus, reset passwords, restore backups, report serious cases.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5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30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"/>
          <p:cNvSpPr txBox="1">
            <a:spLocks noGrp="1"/>
          </p:cNvSpPr>
          <p:nvPr>
            <p:ph type="title"/>
          </p:nvPr>
        </p:nvSpPr>
        <p:spPr>
          <a:xfrm>
            <a:off x="2471800" y="3191263"/>
            <a:ext cx="6533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Second Solution Techniques and Anti-Techniques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700"/>
          </a:p>
        </p:txBody>
      </p:sp>
      <p:sp>
        <p:nvSpPr>
          <p:cNvPr id="495" name="Google Shape;495;p58"/>
          <p:cNvSpPr txBox="1">
            <a:spLocks noGrp="1"/>
          </p:cNvSpPr>
          <p:nvPr>
            <p:ph type="title" idx="2"/>
          </p:nvPr>
        </p:nvSpPr>
        <p:spPr>
          <a:xfrm>
            <a:off x="1100800" y="1332700"/>
            <a:ext cx="13710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6" name="Google Shape;496;p58"/>
          <p:cNvSpPr/>
          <p:nvPr/>
        </p:nvSpPr>
        <p:spPr>
          <a:xfrm>
            <a:off x="3898050" y="3860325"/>
            <a:ext cx="4991100" cy="639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5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Technique -USB</a:t>
            </a:r>
            <a:endParaRPr/>
          </a:p>
        </p:txBody>
      </p:sp>
      <p:sp>
        <p:nvSpPr>
          <p:cNvPr id="503" name="Google Shape;503;p59"/>
          <p:cNvSpPr txBox="1"/>
          <p:nvPr/>
        </p:nvSpPr>
        <p:spPr>
          <a:xfrm>
            <a:off x="717800" y="1125125"/>
            <a:ext cx="7423500" cy="3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 the second delivery method, we exploit via BadUSB using microcontroller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common case 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USB device is known as storage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USB are portable physical device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USB marketplace still increase in recent year (Dhapel, 2025)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USB is the first choice for digital people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USB is a commonly overlook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9144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-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Affordable and can drop at public places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32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0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Technique -USB</a:t>
            </a:r>
            <a:endParaRPr/>
          </a:p>
        </p:txBody>
      </p:sp>
      <p:cxnSp>
        <p:nvCxnSpPr>
          <p:cNvPr id="510" name="Google Shape;510;p60"/>
          <p:cNvCxnSpPr/>
          <p:nvPr/>
        </p:nvCxnSpPr>
        <p:spPr>
          <a:xfrm flipH="1">
            <a:off x="5862500" y="1353900"/>
            <a:ext cx="544200" cy="544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1" name="Google Shape;511;p60"/>
          <p:cNvSpPr/>
          <p:nvPr/>
        </p:nvSpPr>
        <p:spPr>
          <a:xfrm>
            <a:off x="6451425" y="744675"/>
            <a:ext cx="946200" cy="1080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50% random picker (Dockrill 2016)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2" name="Google Shape;51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5750" y="1585475"/>
            <a:ext cx="4819650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33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61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Delivery Technique -USB</a:t>
            </a:r>
            <a:endParaRPr/>
          </a:p>
        </p:txBody>
      </p:sp>
      <p:pic>
        <p:nvPicPr>
          <p:cNvPr id="519" name="Google Shape;519;p61" title="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263" y="1030875"/>
            <a:ext cx="6769466" cy="380782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6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34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2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Anti-Delivery Technique -USB</a:t>
            </a:r>
            <a:endParaRPr/>
          </a:p>
        </p:txBody>
      </p:sp>
      <p:sp>
        <p:nvSpPr>
          <p:cNvPr id="526" name="Google Shape;526;p62"/>
          <p:cNvSpPr txBox="1"/>
          <p:nvPr/>
        </p:nvSpPr>
        <p:spPr>
          <a:xfrm>
            <a:off x="717800" y="2091725"/>
            <a:ext cx="65838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Stopping powershell execution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62"/>
          <p:cNvSpPr txBox="1"/>
          <p:nvPr/>
        </p:nvSpPr>
        <p:spPr>
          <a:xfrm>
            <a:off x="717800" y="127660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Set Group Policy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28" name="Google Shape;528;p62"/>
          <p:cNvSpPr txBox="1"/>
          <p:nvPr/>
        </p:nvSpPr>
        <p:spPr>
          <a:xfrm>
            <a:off x="717800" y="3153800"/>
            <a:ext cx="6158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Log off - device - short awake time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29" name="Google Shape;529;p62"/>
          <p:cNvSpPr txBox="1"/>
          <p:nvPr/>
        </p:nvSpPr>
        <p:spPr>
          <a:xfrm>
            <a:off x="717800" y="3852925"/>
            <a:ext cx="6583800" cy="7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Strong password, screen off 1 min inactive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35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Auto-Executing Technique -USB</a:t>
            </a:r>
            <a:endParaRPr/>
          </a:p>
        </p:txBody>
      </p:sp>
      <p:pic>
        <p:nvPicPr>
          <p:cNvPr id="536" name="Google Shape;53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150" y="1600950"/>
            <a:ext cx="5057775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36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4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Auto-Executing Technique -USB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3" name="Google Shape;543;p64" title="0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263" y="1105925"/>
            <a:ext cx="6769466" cy="3807824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6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37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5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Anti-Executing Technique -USB</a:t>
            </a:r>
            <a:endParaRPr/>
          </a:p>
        </p:txBody>
      </p:sp>
      <p:sp>
        <p:nvSpPr>
          <p:cNvPr id="550" name="Google Shape;550;p65"/>
          <p:cNvSpPr txBox="1"/>
          <p:nvPr/>
        </p:nvSpPr>
        <p:spPr>
          <a:xfrm>
            <a:off x="798150" y="1846000"/>
            <a:ext cx="7708200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airplane mode, when question about the legibility of new devices or disconnect wifi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65"/>
          <p:cNvSpPr txBox="1"/>
          <p:nvPr/>
        </p:nvSpPr>
        <p:spPr>
          <a:xfrm>
            <a:off x="717800" y="1276600"/>
            <a:ext cx="5066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Turn off Wi-Fi, not in used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2" name="Google Shape;552;p65"/>
          <p:cNvSpPr txBox="1"/>
          <p:nvPr/>
        </p:nvSpPr>
        <p:spPr>
          <a:xfrm>
            <a:off x="798150" y="3024400"/>
            <a:ext cx="5438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Turn off powershell script</a:t>
            </a:r>
            <a:endParaRPr/>
          </a:p>
        </p:txBody>
      </p:sp>
      <p:sp>
        <p:nvSpPr>
          <p:cNvPr id="553" name="Google Shape;553;p65"/>
          <p:cNvSpPr txBox="1"/>
          <p:nvPr/>
        </p:nvSpPr>
        <p:spPr>
          <a:xfrm>
            <a:off x="870300" y="3593800"/>
            <a:ext cx="77082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Group Policy for restricting for adding .exe or shortcut into startup folder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ontserrat"/>
              <a:buChar char="-"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 to Setting -&gt; disable powershell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6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38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6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Technique - USB</a:t>
            </a:r>
            <a:endParaRPr/>
          </a:p>
        </p:txBody>
      </p:sp>
      <p:sp>
        <p:nvSpPr>
          <p:cNvPr id="560" name="Google Shape;560;p66"/>
          <p:cNvSpPr txBox="1">
            <a:spLocks noGrp="1"/>
          </p:cNvSpPr>
          <p:nvPr>
            <p:ph type="subTitle" idx="1"/>
          </p:nvPr>
        </p:nvSpPr>
        <p:spPr>
          <a:xfrm>
            <a:off x="543600" y="913825"/>
            <a:ext cx="8343900" cy="46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❖"/>
            </a:pPr>
            <a:r>
              <a:rPr lang="en" sz="1600" b="1">
                <a:solidFill>
                  <a:schemeClr val="accent5"/>
                </a:solidFill>
              </a:rPr>
              <a:t>Usb Propagator</a:t>
            </a:r>
            <a:endParaRPr sz="1600" b="1">
              <a:solidFill>
                <a:schemeClr val="accent5"/>
              </a:solidFill>
            </a:endParaRPr>
          </a:p>
          <a:p>
            <a:pPr marL="9144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b="1">
              <a:solidFill>
                <a:schemeClr val="accent1"/>
              </a:solidFill>
            </a:endParaRPr>
          </a:p>
          <a:p>
            <a:pPr marL="0" marR="50800" lvl="0" indent="0" algn="l" rtl="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561" name="Google Shape;561;p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562" name="Google Shape;562;p66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500" y="1735325"/>
            <a:ext cx="6201500" cy="20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7"/>
          <p:cNvSpPr txBox="1">
            <a:spLocks noGrp="1"/>
          </p:cNvSpPr>
          <p:nvPr>
            <p:ph type="title"/>
          </p:nvPr>
        </p:nvSpPr>
        <p:spPr>
          <a:xfrm>
            <a:off x="447975" y="329500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Spreading Technique - USB</a:t>
            </a:r>
            <a:endParaRPr/>
          </a:p>
        </p:txBody>
      </p:sp>
      <p:pic>
        <p:nvPicPr>
          <p:cNvPr id="568" name="Google Shape;568;p67" title="usb spread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725" y="1131900"/>
            <a:ext cx="6956701" cy="3498874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40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8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Anti-Spreading Technique - USB</a:t>
            </a:r>
            <a:endParaRPr/>
          </a:p>
        </p:txBody>
      </p:sp>
      <p:sp>
        <p:nvSpPr>
          <p:cNvPr id="575" name="Google Shape;575;p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41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576" name="Google Shape;576;p68"/>
          <p:cNvSpPr txBox="1"/>
          <p:nvPr/>
        </p:nvSpPr>
        <p:spPr>
          <a:xfrm>
            <a:off x="798150" y="1846000"/>
            <a:ext cx="7708200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Telegram security setting, you can enable local passcode to lock the app after being away for certain time.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68"/>
          <p:cNvSpPr txBox="1"/>
          <p:nvPr/>
        </p:nvSpPr>
        <p:spPr>
          <a:xfrm>
            <a:off x="838825" y="1276600"/>
            <a:ext cx="50664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Use Passcode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78" name="Google Shape;578;p68"/>
          <p:cNvSpPr txBox="1"/>
          <p:nvPr/>
        </p:nvSpPr>
        <p:spPr>
          <a:xfrm>
            <a:off x="817375" y="2877625"/>
            <a:ext cx="7399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Remove from Start Menu Search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79" name="Google Shape;579;p68"/>
          <p:cNvSpPr txBox="1"/>
          <p:nvPr/>
        </p:nvSpPr>
        <p:spPr>
          <a:xfrm>
            <a:off x="838825" y="3447025"/>
            <a:ext cx="7708200" cy="11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Instead of search for telegram and open it, now you only click open it manually on the desktop.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9"/>
          <p:cNvSpPr txBox="1">
            <a:spLocks noGrp="1"/>
          </p:cNvSpPr>
          <p:nvPr>
            <p:ph type="subTitle" idx="1"/>
          </p:nvPr>
        </p:nvSpPr>
        <p:spPr>
          <a:xfrm>
            <a:off x="5946490" y="4333575"/>
            <a:ext cx="2479500" cy="4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On USB</a:t>
            </a:r>
            <a:endParaRPr/>
          </a:p>
        </p:txBody>
      </p:sp>
      <p:sp>
        <p:nvSpPr>
          <p:cNvPr id="585" name="Google Shape;585;p69"/>
          <p:cNvSpPr txBox="1">
            <a:spLocks noGrp="1"/>
          </p:cNvSpPr>
          <p:nvPr>
            <p:ph type="subTitle" idx="5"/>
          </p:nvPr>
        </p:nvSpPr>
        <p:spPr>
          <a:xfrm>
            <a:off x="1960425" y="4109175"/>
            <a:ext cx="24795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Using  ON NETWORK</a:t>
            </a:r>
            <a:endParaRPr/>
          </a:p>
        </p:txBody>
      </p:sp>
      <p:sp>
        <p:nvSpPr>
          <p:cNvPr id="586" name="Google Shape;586;p69"/>
          <p:cNvSpPr txBox="1">
            <a:spLocks noGrp="1"/>
          </p:cNvSpPr>
          <p:nvPr>
            <p:ph type="subTitle" idx="6"/>
          </p:nvPr>
        </p:nvSpPr>
        <p:spPr>
          <a:xfrm>
            <a:off x="2831762" y="1252925"/>
            <a:ext cx="5594100" cy="24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conduct techniques of delivery, execution, and spreading using DNS spoof and HID attack surface. While also present techniques that help mitigating these common malicious activity.</a:t>
            </a:r>
            <a:endParaRPr/>
          </a:p>
        </p:txBody>
      </p:sp>
      <p:sp>
        <p:nvSpPr>
          <p:cNvPr id="587" name="Google Shape;587;p6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88" name="Google Shape;588;p6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42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0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94" name="Google Shape;594;p70"/>
          <p:cNvSpPr txBox="1">
            <a:spLocks noGrp="1"/>
          </p:cNvSpPr>
          <p:nvPr>
            <p:ph type="subTitle" idx="1"/>
          </p:nvPr>
        </p:nvSpPr>
        <p:spPr>
          <a:xfrm>
            <a:off x="769950" y="1123575"/>
            <a:ext cx="8048400" cy="39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malwaredllc. 2025. “malwaredllc / byob: An open‑source post‑exploitation framework.” </a:t>
            </a:r>
            <a:r>
              <a:rPr lang="en" sz="1150" i="1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repository</a:t>
            </a:r>
            <a:r>
              <a:rPr lang="en" sz="115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Garruba, Giulian. 2024. “Botnet detection and removal: tools &amp; techniques.” </a:t>
            </a:r>
            <a:r>
              <a:rPr lang="en" sz="1150" i="1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Mimecast blog</a:t>
            </a:r>
            <a:r>
              <a:rPr lang="en" sz="115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 </a:t>
            </a:r>
            <a:r>
              <a:rPr lang="en" sz="115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https://www.mimecast.com/blog/botnet-detection-and-removal/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Dhaptel, Aarti. 2025. “USB Flash Drives Market Size, Share | Growth Report 2032.” Market Research Future. </a:t>
            </a:r>
            <a:r>
              <a:rPr lang="en" sz="11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https://www.marketresearchfuture.com/reports/usb-flash-drives-market-38381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Dockrill, Peter. 2016. “People Will Pick Up And Use Almost 50% of Random, Discarded USB Drives, Study Finds..” Science alert. </a:t>
            </a:r>
            <a:r>
              <a:rPr lang="en" sz="11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https://www.sciencealert.com/people-will-pick-up-and-use-almost-50-of-random-discarded-usb-drives-study-finds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Bettercap. n.d. ARP.SPOOF.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https://www.bettercap.org/modules/ethernet/spoofers/arp.spoof/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Bettercap. n.d. </a:t>
            </a:r>
            <a:r>
              <a:rPr lang="en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DNS.SPOOF.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https://www.bettercap.org/modules/ethernet/spoofers/dns.spoof/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Bettercap. n.d. NET.PROBE.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https://www.bettercap.org/modules/ethernet/net.probe/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Fund, Fairda. 2016. “Redirect traffic to a wrong or a fake site with DNS spoofing on a LAN.”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https://witestlab.poly.edu/blog/redirect-traffic-to-a-wrong-or-fake-site-with-dns-spoofing-on-a-lan/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Greig, Jonathan. 2025. “DOJ deletes China-linked PlugX malware off more than 4,200 US computers.” The Record.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https://therecord.media/doj-deletes-china-linked-plugx-malware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Kanadijian, Richard. 2022. “BadUSB: A Growing Cybersecurity Threat.” CPO Magazine.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https://www.cpomagazine.com/cyber-security/badusb-a-growing-cybersecurity-threat/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 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Nair, Prajeet. 2022. “FIN7 Targets US Enterprises Via BadUSB.” ISMG.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https://www.bankinfosecurity.com/fin7-targets-us-enterprises-via-badusb-a-18278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Char char="●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Neilson, James. 2024. “The threats of USB-based attacks for critical infrastructure.” TechRadar. </a:t>
            </a:r>
            <a:r>
              <a:rPr lang="en" sz="1150" u="sng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https://www.techradar.com/pro/the-threats-of-usb-based-attacks-for-critical-infrastructure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marL="0" marR="50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50" b="1">
              <a:solidFill>
                <a:srgbClr val="0000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sz="1150"/>
          </a:p>
        </p:txBody>
      </p:sp>
      <p:sp>
        <p:nvSpPr>
          <p:cNvPr id="595" name="Google Shape;595;p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71"/>
          <p:cNvSpPr txBox="1">
            <a:spLocks noGrp="1"/>
          </p:cNvSpPr>
          <p:nvPr>
            <p:ph type="title"/>
          </p:nvPr>
        </p:nvSpPr>
        <p:spPr>
          <a:xfrm>
            <a:off x="2322600" y="2312600"/>
            <a:ext cx="4498800" cy="15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THANK YOU</a:t>
            </a:r>
            <a:endParaRPr sz="4400"/>
          </a:p>
        </p:txBody>
      </p:sp>
      <p:sp>
        <p:nvSpPr>
          <p:cNvPr id="601" name="Google Shape;601;p7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</a:rPr>
              <a:t>44</a:t>
            </a:fld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1733</Words>
  <Application>Microsoft Office PowerPoint</Application>
  <PresentationFormat>On-screen Show (16:9)</PresentationFormat>
  <Paragraphs>291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4" baseType="lpstr">
      <vt:lpstr>Fira Sans Extra Condensed Medium</vt:lpstr>
      <vt:lpstr>Arial</vt:lpstr>
      <vt:lpstr>Montserrat SemiBold</vt:lpstr>
      <vt:lpstr>Quicksand Medium</vt:lpstr>
      <vt:lpstr>Barlow</vt:lpstr>
      <vt:lpstr>Inter</vt:lpstr>
      <vt:lpstr>Montserrat</vt:lpstr>
      <vt:lpstr>Didact Gothic</vt:lpstr>
      <vt:lpstr>Roboto Mono</vt:lpstr>
      <vt:lpstr>Management Consulting Toolkit by Slidesgo</vt:lpstr>
      <vt:lpstr>Malicious Code &amp; Solution Implementation </vt:lpstr>
      <vt:lpstr>Team Member</vt:lpstr>
      <vt:lpstr>Table of Contents</vt:lpstr>
      <vt:lpstr>Malicious Code</vt:lpstr>
      <vt:lpstr>Malicious Code &amp; Anti Implementation</vt:lpstr>
      <vt:lpstr>Malicious Code</vt:lpstr>
      <vt:lpstr>Anti Code Implementation </vt:lpstr>
      <vt:lpstr>Anti Code Implementation Demonstration  </vt:lpstr>
      <vt:lpstr>Fake Chrome Update Page (ZIP Malware Delivery)</vt:lpstr>
      <vt:lpstr>Hosting Methodology</vt:lpstr>
      <vt:lpstr>First Solution Techniques and Anti-Techniques</vt:lpstr>
      <vt:lpstr>Delivery Technique -Bettercap</vt:lpstr>
      <vt:lpstr>Delivery Technique -Bettercap</vt:lpstr>
      <vt:lpstr>Delivery Technique -Bettercap</vt:lpstr>
      <vt:lpstr>Anti-Delivery Technique -Bettercap</vt:lpstr>
      <vt:lpstr>Auto-Executing Technique -Startup</vt:lpstr>
      <vt:lpstr>Auto-Executing Technique -Startup </vt:lpstr>
      <vt:lpstr>Anti-Executing Technique -Startup</vt:lpstr>
      <vt:lpstr>Spreading -Botnet</vt:lpstr>
      <vt:lpstr>Spreading -Botnet </vt:lpstr>
      <vt:lpstr>Spreading -Botnet </vt:lpstr>
      <vt:lpstr>Spreading -Botnet </vt:lpstr>
      <vt:lpstr>PowerPoint Presentation</vt:lpstr>
      <vt:lpstr>Spreading -Botnet</vt:lpstr>
      <vt:lpstr>Spreading -Botnet</vt:lpstr>
      <vt:lpstr>Spreading -Botnet</vt:lpstr>
      <vt:lpstr>Spreading Architecture -Botnet </vt:lpstr>
      <vt:lpstr>Spreading -Botnet </vt:lpstr>
      <vt:lpstr>Spreading -Botnet </vt:lpstr>
      <vt:lpstr>Anti-Botnet Spreading</vt:lpstr>
      <vt:lpstr>Second Solution Techniques and Anti-Techniques </vt:lpstr>
      <vt:lpstr>Delivery Technique -USB</vt:lpstr>
      <vt:lpstr>Delivery Technique -USB</vt:lpstr>
      <vt:lpstr>Delivery Technique -USB</vt:lpstr>
      <vt:lpstr>Anti-Delivery Technique -USB</vt:lpstr>
      <vt:lpstr>Auto-Executing Technique -USB</vt:lpstr>
      <vt:lpstr>Auto-Executing Technique -USB </vt:lpstr>
      <vt:lpstr>Anti-Executing Technique -USB</vt:lpstr>
      <vt:lpstr>Spreading Technique - USB</vt:lpstr>
      <vt:lpstr>Spreading Technique - USB</vt:lpstr>
      <vt:lpstr>Anti-Spreading Technique - USB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2025-07-30T15:44:47Z</dcterms:modified>
</cp:coreProperties>
</file>